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1463040"/>
            <a:ext cx="3657600" cy="3657600"/>
          </a:xfrm>
          <a:prstGeom prst="ellipse">
            <a:avLst/>
          </a:prstGeom>
          <a:solidFill>
            <a:srgbClr val="06B6D4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-914400"/>
            <a:ext cx="2560320" cy="256032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040880" y="4526280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Shape 3"/>
          <p:cNvSpPr/>
          <p:nvPr/>
        </p:nvSpPr>
        <p:spPr>
          <a:xfrm>
            <a:off x="7205472" y="4526280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7370064" y="4526280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7" name="Shape 5"/>
          <p:cNvSpPr/>
          <p:nvPr/>
        </p:nvSpPr>
        <p:spPr>
          <a:xfrm>
            <a:off x="7534656" y="4526280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8" name="Shape 6"/>
          <p:cNvSpPr/>
          <p:nvPr/>
        </p:nvSpPr>
        <p:spPr>
          <a:xfrm>
            <a:off x="7699248" y="4526280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9" name="Shape 7"/>
          <p:cNvSpPr/>
          <p:nvPr/>
        </p:nvSpPr>
        <p:spPr>
          <a:xfrm>
            <a:off x="7863840" y="4526280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Shape 8"/>
          <p:cNvSpPr/>
          <p:nvPr/>
        </p:nvSpPr>
        <p:spPr>
          <a:xfrm>
            <a:off x="8028432" y="4526280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8193024" y="4526280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Shape 10"/>
          <p:cNvSpPr/>
          <p:nvPr/>
        </p:nvSpPr>
        <p:spPr>
          <a:xfrm>
            <a:off x="8357616" y="4526280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3" name="Shape 11"/>
          <p:cNvSpPr/>
          <p:nvPr/>
        </p:nvSpPr>
        <p:spPr>
          <a:xfrm>
            <a:off x="8522208" y="4526280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Shape 12"/>
          <p:cNvSpPr/>
          <p:nvPr/>
        </p:nvSpPr>
        <p:spPr>
          <a:xfrm>
            <a:off x="8686800" y="4526280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5" name="Shape 13"/>
          <p:cNvSpPr/>
          <p:nvPr/>
        </p:nvSpPr>
        <p:spPr>
          <a:xfrm>
            <a:off x="8851392" y="4526280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7040880" y="4690872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7" name="Shape 15"/>
          <p:cNvSpPr/>
          <p:nvPr/>
        </p:nvSpPr>
        <p:spPr>
          <a:xfrm>
            <a:off x="7205472" y="4690872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8" name="Shape 16"/>
          <p:cNvSpPr/>
          <p:nvPr/>
        </p:nvSpPr>
        <p:spPr>
          <a:xfrm>
            <a:off x="7370064" y="4690872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9" name="Shape 17"/>
          <p:cNvSpPr/>
          <p:nvPr/>
        </p:nvSpPr>
        <p:spPr>
          <a:xfrm>
            <a:off x="7534656" y="4690872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0" name="Shape 18"/>
          <p:cNvSpPr/>
          <p:nvPr/>
        </p:nvSpPr>
        <p:spPr>
          <a:xfrm>
            <a:off x="7699248" y="4690872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7863840" y="4690872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2" name="Shape 20"/>
          <p:cNvSpPr/>
          <p:nvPr/>
        </p:nvSpPr>
        <p:spPr>
          <a:xfrm>
            <a:off x="8028432" y="4690872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4690872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4" name="Shape 22"/>
          <p:cNvSpPr/>
          <p:nvPr/>
        </p:nvSpPr>
        <p:spPr>
          <a:xfrm>
            <a:off x="8357616" y="4690872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5" name="Shape 23"/>
          <p:cNvSpPr/>
          <p:nvPr/>
        </p:nvSpPr>
        <p:spPr>
          <a:xfrm>
            <a:off x="8522208" y="4690872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6" name="Shape 24"/>
          <p:cNvSpPr/>
          <p:nvPr/>
        </p:nvSpPr>
        <p:spPr>
          <a:xfrm>
            <a:off x="8686800" y="4690872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7" name="Shape 25"/>
          <p:cNvSpPr/>
          <p:nvPr/>
        </p:nvSpPr>
        <p:spPr>
          <a:xfrm>
            <a:off x="8851392" y="4690872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8" name="Shape 26"/>
          <p:cNvSpPr/>
          <p:nvPr/>
        </p:nvSpPr>
        <p:spPr>
          <a:xfrm>
            <a:off x="7040880" y="4855464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9" name="Shape 27"/>
          <p:cNvSpPr/>
          <p:nvPr/>
        </p:nvSpPr>
        <p:spPr>
          <a:xfrm>
            <a:off x="7205472" y="4855464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0" name="Shape 28"/>
          <p:cNvSpPr/>
          <p:nvPr/>
        </p:nvSpPr>
        <p:spPr>
          <a:xfrm>
            <a:off x="7370064" y="4855464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1" name="Shape 29"/>
          <p:cNvSpPr/>
          <p:nvPr/>
        </p:nvSpPr>
        <p:spPr>
          <a:xfrm>
            <a:off x="7534656" y="4855464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2" name="Shape 30"/>
          <p:cNvSpPr/>
          <p:nvPr/>
        </p:nvSpPr>
        <p:spPr>
          <a:xfrm>
            <a:off x="7699248" y="4855464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3" name="Shape 31"/>
          <p:cNvSpPr/>
          <p:nvPr/>
        </p:nvSpPr>
        <p:spPr>
          <a:xfrm>
            <a:off x="7863840" y="4855464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4" name="Shape 32"/>
          <p:cNvSpPr/>
          <p:nvPr/>
        </p:nvSpPr>
        <p:spPr>
          <a:xfrm>
            <a:off x="8028432" y="4855464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5" name="Shape 33"/>
          <p:cNvSpPr/>
          <p:nvPr/>
        </p:nvSpPr>
        <p:spPr>
          <a:xfrm>
            <a:off x="8193024" y="4855464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6" name="Shape 34"/>
          <p:cNvSpPr/>
          <p:nvPr/>
        </p:nvSpPr>
        <p:spPr>
          <a:xfrm>
            <a:off x="8357616" y="4855464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7" name="Shape 35"/>
          <p:cNvSpPr/>
          <p:nvPr/>
        </p:nvSpPr>
        <p:spPr>
          <a:xfrm>
            <a:off x="8522208" y="4855464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8" name="Shape 36"/>
          <p:cNvSpPr/>
          <p:nvPr/>
        </p:nvSpPr>
        <p:spPr>
          <a:xfrm>
            <a:off x="8686800" y="4855464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9" name="Shape 37"/>
          <p:cNvSpPr/>
          <p:nvPr/>
        </p:nvSpPr>
        <p:spPr>
          <a:xfrm>
            <a:off x="8851392" y="4855464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0" name="Text 38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DIPLOMOVÁ PRÁCA · FMFI UK · 2026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48640" y="960120"/>
            <a:ext cx="7772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Návrh a implementácia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firmvéru pre IoT zariadenie</a:t>
            </a:r>
            <a:endParaRPr lang="en-US" sz="3800" dirty="0"/>
          </a:p>
        </p:txBody>
      </p:sp>
      <p:sp>
        <p:nvSpPr>
          <p:cNvPr id="42" name="Text 40"/>
          <p:cNvSpPr/>
          <p:nvPr/>
        </p:nvSpPr>
        <p:spPr>
          <a:xfrm>
            <a:off x="548640" y="26060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Hardwario </a:t>
            </a:r>
            <a:pPr indent="0" marL="0">
              <a:buNone/>
            </a:pPr>
            <a:r>
              <a:rPr lang="en-US" sz="32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GLIDER</a:t>
            </a:r>
            <a:endParaRPr lang="en-US" sz="3200" dirty="0"/>
          </a:p>
        </p:txBody>
      </p:sp>
      <p:sp>
        <p:nvSpPr>
          <p:cNvPr id="43" name="Shape 41"/>
          <p:cNvSpPr/>
          <p:nvPr/>
        </p:nvSpPr>
        <p:spPr>
          <a:xfrm>
            <a:off x="548640" y="3291840"/>
            <a:ext cx="54864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4" name="Text 42"/>
          <p:cNvSpPr/>
          <p:nvPr/>
        </p:nvSpPr>
        <p:spPr>
          <a:xfrm>
            <a:off x="548640" y="3520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Nikolas Gubančok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48640" y="3840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Školiteľ: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RNDr. Jozef Šiška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548640" y="4297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Platforma: Nordic nRF9151 SiP · nRF Connect SDK · Zephyr RTOS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8183880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8330184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Shape 3"/>
          <p:cNvSpPr/>
          <p:nvPr/>
        </p:nvSpPr>
        <p:spPr>
          <a:xfrm>
            <a:off x="8476488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8622792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7" name="Shape 5"/>
          <p:cNvSpPr/>
          <p:nvPr/>
        </p:nvSpPr>
        <p:spPr>
          <a:xfrm>
            <a:off x="8769096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8" name="Shape 6"/>
          <p:cNvSpPr/>
          <p:nvPr/>
        </p:nvSpPr>
        <p:spPr>
          <a:xfrm>
            <a:off x="8183880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9" name="Shape 7"/>
          <p:cNvSpPr/>
          <p:nvPr/>
        </p:nvSpPr>
        <p:spPr>
          <a:xfrm>
            <a:off x="8330184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Shape 8"/>
          <p:cNvSpPr/>
          <p:nvPr/>
        </p:nvSpPr>
        <p:spPr>
          <a:xfrm>
            <a:off x="8476488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8622792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Shape 10"/>
          <p:cNvSpPr/>
          <p:nvPr/>
        </p:nvSpPr>
        <p:spPr>
          <a:xfrm>
            <a:off x="8769096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3880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Shape 12"/>
          <p:cNvSpPr/>
          <p:nvPr/>
        </p:nvSpPr>
        <p:spPr>
          <a:xfrm>
            <a:off x="8330184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5" name="Shape 13"/>
          <p:cNvSpPr/>
          <p:nvPr/>
        </p:nvSpPr>
        <p:spPr>
          <a:xfrm>
            <a:off x="8476488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8622792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7" name="Shape 15"/>
          <p:cNvSpPr/>
          <p:nvPr/>
        </p:nvSpPr>
        <p:spPr>
          <a:xfrm>
            <a:off x="8769096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92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ÚVOD A MOTIVÁCIA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5669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Priemyselné IoT vyžaduje spoľahlivý firmvér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548640" y="1243584"/>
            <a:ext cx="50292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16002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GLIDER je platforma pre vzdialený monitoring a riadenie priemyselných zariadení, čerpadiel, kotlov, kompresorov a chladiacich jednotiek v miestach bez stálej Wi-Fi.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Cieľom firmvéru je spojiť periférie zariadenia s cloudom GLIDER cez LTE-M sieť, s minimálnou spotrebou a bez nutnosti lokálnej brány.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897880" y="1600200"/>
            <a:ext cx="274320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97880" y="1600200"/>
            <a:ext cx="54864" cy="914400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0" y="1828800"/>
            <a:ext cx="457200" cy="45720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6629400" y="1645920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3600" dirty="0"/>
          </a:p>
        </p:txBody>
      </p:sp>
      <p:sp>
        <p:nvSpPr>
          <p:cNvPr id="26" name="Text 23"/>
          <p:cNvSpPr/>
          <p:nvPr/>
        </p:nvSpPr>
        <p:spPr>
          <a:xfrm>
            <a:off x="7360920" y="18745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analógové vstupy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897880" y="2651760"/>
            <a:ext cx="274320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897880" y="2651760"/>
            <a:ext cx="54864" cy="914400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2880360"/>
            <a:ext cx="457200" cy="457200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6629400" y="2697480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600" dirty="0"/>
          </a:p>
        </p:txBody>
      </p:sp>
      <p:sp>
        <p:nvSpPr>
          <p:cNvPr id="31" name="Text 27"/>
          <p:cNvSpPr/>
          <p:nvPr/>
        </p:nvSpPr>
        <p:spPr>
          <a:xfrm>
            <a:off x="7360920" y="29260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reléové výstupy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5897880" y="3703320"/>
            <a:ext cx="274320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sp>
        <p:nvSpPr>
          <p:cNvPr id="33" name="Shape 29"/>
          <p:cNvSpPr/>
          <p:nvPr/>
        </p:nvSpPr>
        <p:spPr>
          <a:xfrm>
            <a:off x="5897880" y="3703320"/>
            <a:ext cx="54864" cy="914400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3931920"/>
            <a:ext cx="457200" cy="457200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6629400" y="3749040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3600" dirty="0"/>
          </a:p>
        </p:txBody>
      </p:sp>
      <p:sp>
        <p:nvSpPr>
          <p:cNvPr id="36" name="Text 31"/>
          <p:cNvSpPr/>
          <p:nvPr/>
        </p:nvSpPr>
        <p:spPr>
          <a:xfrm>
            <a:off x="7360920" y="397764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teplotných kanálov</a:t>
            </a:r>
            <a:endParaRPr lang="en-US" sz="1100" dirty="0"/>
          </a:p>
        </p:txBody>
      </p:sp>
      <p:sp>
        <p:nvSpPr>
          <p:cNvPr id="37" name="Text 32"/>
          <p:cNvSpPr/>
          <p:nvPr/>
        </p:nvSpPr>
        <p:spPr>
          <a:xfrm>
            <a:off x="54864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GLIDER</a:t>
            </a:r>
            <a:endParaRPr lang="en-US" sz="1000" dirty="0"/>
          </a:p>
        </p:txBody>
      </p:sp>
      <p:sp>
        <p:nvSpPr>
          <p:cNvPr id="38" name="Text 3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8183880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8330184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Shape 3"/>
          <p:cNvSpPr/>
          <p:nvPr/>
        </p:nvSpPr>
        <p:spPr>
          <a:xfrm>
            <a:off x="8476488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8622792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7" name="Shape 5"/>
          <p:cNvSpPr/>
          <p:nvPr/>
        </p:nvSpPr>
        <p:spPr>
          <a:xfrm>
            <a:off x="8769096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8" name="Shape 6"/>
          <p:cNvSpPr/>
          <p:nvPr/>
        </p:nvSpPr>
        <p:spPr>
          <a:xfrm>
            <a:off x="8183880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9" name="Shape 7"/>
          <p:cNvSpPr/>
          <p:nvPr/>
        </p:nvSpPr>
        <p:spPr>
          <a:xfrm>
            <a:off x="8330184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Shape 8"/>
          <p:cNvSpPr/>
          <p:nvPr/>
        </p:nvSpPr>
        <p:spPr>
          <a:xfrm>
            <a:off x="8476488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8622792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Shape 10"/>
          <p:cNvSpPr/>
          <p:nvPr/>
        </p:nvSpPr>
        <p:spPr>
          <a:xfrm>
            <a:off x="8769096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3880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Shape 12"/>
          <p:cNvSpPr/>
          <p:nvPr/>
        </p:nvSpPr>
        <p:spPr>
          <a:xfrm>
            <a:off x="8330184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5" name="Shape 13"/>
          <p:cNvSpPr/>
          <p:nvPr/>
        </p:nvSpPr>
        <p:spPr>
          <a:xfrm>
            <a:off x="8476488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8622792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7" name="Shape 15"/>
          <p:cNvSpPr/>
          <p:nvPr/>
        </p:nvSpPr>
        <p:spPr>
          <a:xfrm>
            <a:off x="8769096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92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ZADANIE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5669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Ciele diplomovej práce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548640" y="1243584"/>
            <a:ext cx="50292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1554480"/>
            <a:ext cx="8046720" cy="6675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1554480"/>
            <a:ext cx="54864" cy="667512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19072"/>
            <a:ext cx="365760" cy="36576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325880" y="1609344"/>
            <a:ext cx="7178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Navrhnúť firmvérovú architektúru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325880" y="1901952"/>
            <a:ext cx="7178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Postaviť na nRF Connect SDK pre nRF9151 (Cortex-M33) s deliacou hranicou Secure / Non-Secure (TF-M).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2313432"/>
            <a:ext cx="8046720" cy="6675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48640" y="2313432"/>
            <a:ext cx="54864" cy="667512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478024"/>
            <a:ext cx="365760" cy="36576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1325880" y="2368296"/>
            <a:ext cx="7178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Implementovať LTE-M komunikáciu</a:t>
            </a:r>
            <a:endParaRPr lang="en-US" sz="1500" dirty="0"/>
          </a:p>
        </p:txBody>
      </p:sp>
      <p:sp>
        <p:nvSpPr>
          <p:cNvPr id="30" name="Text 26"/>
          <p:cNvSpPr/>
          <p:nvPr/>
        </p:nvSpPr>
        <p:spPr>
          <a:xfrm>
            <a:off x="1325880" y="2660904"/>
            <a:ext cx="7178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Pripojenie do mobilnej siete, MQTT cez Eclipse Mosquitto, JSON-RPC 2.0 protokol pre správy do cloudu a z cloudu.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548640" y="3072384"/>
            <a:ext cx="8046720" cy="6675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548640" y="3072384"/>
            <a:ext cx="54864" cy="667512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236976"/>
            <a:ext cx="365760" cy="36576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1325880" y="3127248"/>
            <a:ext cx="7178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Riadiť periférie a konfiguráciu</a:t>
            </a:r>
            <a:endParaRPr lang="en-US" sz="1500" dirty="0"/>
          </a:p>
        </p:txBody>
      </p:sp>
      <p:sp>
        <p:nvSpPr>
          <p:cNvPr id="35" name="Text 30"/>
          <p:cNvSpPr/>
          <p:nvPr/>
        </p:nvSpPr>
        <p:spPr>
          <a:xfrm>
            <a:off x="1325880" y="3419856"/>
            <a:ext cx="7178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Analógové vstupy, reléové výstupy, 1-Wire teplomery, perzistentné nastavenia v NVS, synchronizácia s cloudom.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548640" y="3831336"/>
            <a:ext cx="8046720" cy="6675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548640" y="3831336"/>
            <a:ext cx="54864" cy="667512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995928"/>
            <a:ext cx="365760" cy="365760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1325880" y="3886200"/>
            <a:ext cx="7178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Analyzovať bezpečnostné požiadavky</a:t>
            </a:r>
            <a:endParaRPr lang="en-US" sz="1500" dirty="0"/>
          </a:p>
        </p:txBody>
      </p:sp>
      <p:sp>
        <p:nvSpPr>
          <p:cNvPr id="40" name="Text 34"/>
          <p:cNvSpPr/>
          <p:nvPr/>
        </p:nvSpPr>
        <p:spPr>
          <a:xfrm>
            <a:off x="1325880" y="4178808"/>
            <a:ext cx="7178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Identifikovať hrozby, porovnať aktuálny stav s odporúčaniami z literatúry, navrhnúť kroky k zabezpečeniu.</a:t>
            </a:r>
            <a:endParaRPr lang="en-US" sz="1100" dirty="0"/>
          </a:p>
        </p:txBody>
      </p:sp>
      <p:sp>
        <p:nvSpPr>
          <p:cNvPr id="41" name="Text 35"/>
          <p:cNvSpPr/>
          <p:nvPr/>
        </p:nvSpPr>
        <p:spPr>
          <a:xfrm>
            <a:off x="54864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GLIDER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8183880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8330184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Shape 3"/>
          <p:cNvSpPr/>
          <p:nvPr/>
        </p:nvSpPr>
        <p:spPr>
          <a:xfrm>
            <a:off x="8476488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8622792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7" name="Shape 5"/>
          <p:cNvSpPr/>
          <p:nvPr/>
        </p:nvSpPr>
        <p:spPr>
          <a:xfrm>
            <a:off x="8769096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8" name="Shape 6"/>
          <p:cNvSpPr/>
          <p:nvPr/>
        </p:nvSpPr>
        <p:spPr>
          <a:xfrm>
            <a:off x="8183880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9" name="Shape 7"/>
          <p:cNvSpPr/>
          <p:nvPr/>
        </p:nvSpPr>
        <p:spPr>
          <a:xfrm>
            <a:off x="8330184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Shape 8"/>
          <p:cNvSpPr/>
          <p:nvPr/>
        </p:nvSpPr>
        <p:spPr>
          <a:xfrm>
            <a:off x="8476488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8622792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Shape 10"/>
          <p:cNvSpPr/>
          <p:nvPr/>
        </p:nvSpPr>
        <p:spPr>
          <a:xfrm>
            <a:off x="8769096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3880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Shape 12"/>
          <p:cNvSpPr/>
          <p:nvPr/>
        </p:nvSpPr>
        <p:spPr>
          <a:xfrm>
            <a:off x="8330184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5" name="Shape 13"/>
          <p:cNvSpPr/>
          <p:nvPr/>
        </p:nvSpPr>
        <p:spPr>
          <a:xfrm>
            <a:off x="8476488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8622792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7" name="Shape 15"/>
          <p:cNvSpPr/>
          <p:nvPr/>
        </p:nvSpPr>
        <p:spPr>
          <a:xfrm>
            <a:off x="8769096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92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ARCHITEKTÚRA SYSTÉMU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5669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GLIDER ekosystém: kde sa nachádza firmvér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548640" y="1243584"/>
            <a:ext cx="50292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2011680"/>
            <a:ext cx="173736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240280"/>
            <a:ext cx="365760" cy="36576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548640" y="26974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Zariadenie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48640" y="29900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nRF9151 · firmvér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651760" y="2011680"/>
            <a:ext cx="173736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2240280"/>
            <a:ext cx="365760" cy="36576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2651760" y="26974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MQTT broker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2651760" y="29900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Eclipse Mosquitto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4754880" y="2011680"/>
            <a:ext cx="173736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40280"/>
            <a:ext cx="365760" cy="36576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4754880" y="26974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1400" dirty="0"/>
          </a:p>
        </p:txBody>
      </p:sp>
      <p:sp>
        <p:nvSpPr>
          <p:cNvPr id="32" name="Text 27"/>
          <p:cNvSpPr/>
          <p:nvPr/>
        </p:nvSpPr>
        <p:spPr>
          <a:xfrm>
            <a:off x="4754880" y="29900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· MongoDB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6858000" y="2011680"/>
            <a:ext cx="173736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240280"/>
            <a:ext cx="365760" cy="365760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6858000" y="26974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 (PWA)</a:t>
            </a:r>
            <a:endParaRPr lang="en-US" sz="1400" dirty="0"/>
          </a:p>
        </p:txBody>
      </p:sp>
      <p:sp>
        <p:nvSpPr>
          <p:cNvPr id="36" name="Text 30"/>
          <p:cNvSpPr/>
          <p:nvPr/>
        </p:nvSpPr>
        <p:spPr>
          <a:xfrm>
            <a:off x="6858000" y="29900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SvelteKit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2286000" y="2679192"/>
            <a:ext cx="365760" cy="36576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600" y="2542032"/>
            <a:ext cx="274320" cy="274320"/>
          </a:xfrm>
          <a:prstGeom prst="rect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4389120" y="2679192"/>
            <a:ext cx="365760" cy="36576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7720" y="2542032"/>
            <a:ext cx="274320" cy="274320"/>
          </a:xfrm>
          <a:prstGeom prst="rect">
            <a:avLst/>
          </a:prstGeom>
        </p:spPr>
      </p:pic>
      <p:sp>
        <p:nvSpPr>
          <p:cNvPr id="41" name="Shape 33"/>
          <p:cNvSpPr/>
          <p:nvPr/>
        </p:nvSpPr>
        <p:spPr>
          <a:xfrm>
            <a:off x="6492240" y="2679192"/>
            <a:ext cx="365760" cy="36576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0840" y="2542032"/>
            <a:ext cx="274320" cy="274320"/>
          </a:xfrm>
          <a:prstGeom prst="rect">
            <a:avLst/>
          </a:prstGeom>
        </p:spPr>
      </p:pic>
      <p:sp>
        <p:nvSpPr>
          <p:cNvPr id="43" name="Shape 34"/>
          <p:cNvSpPr/>
          <p:nvPr/>
        </p:nvSpPr>
        <p:spPr>
          <a:xfrm>
            <a:off x="365760" y="3657600"/>
            <a:ext cx="8412480" cy="777240"/>
          </a:xfrm>
          <a:prstGeom prst="roundRect">
            <a:avLst>
              <a:gd name="adj" fmla="val 9412"/>
            </a:avLst>
          </a:prstGeom>
          <a:solidFill>
            <a:srgbClr val="ECFEFF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3822192"/>
            <a:ext cx="457200" cy="45720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1143000" y="3776472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Predmetom práce je len ľavá strana, firmvér zariadenia.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Zvyšok systému (backend, frontend) sa využíva ako testovacie prostredie.</a:t>
            </a:r>
            <a:endParaRPr lang="en-US" sz="1200" dirty="0"/>
          </a:p>
        </p:txBody>
      </p:sp>
      <p:sp>
        <p:nvSpPr>
          <p:cNvPr id="46" name="Text 36"/>
          <p:cNvSpPr/>
          <p:nvPr/>
        </p:nvSpPr>
        <p:spPr>
          <a:xfrm>
            <a:off x="54864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GLIDER</a:t>
            </a:r>
            <a:endParaRPr lang="en-US" sz="1000" dirty="0"/>
          </a:p>
        </p:txBody>
      </p:sp>
      <p:sp>
        <p:nvSpPr>
          <p:cNvPr id="47" name="Text 37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8183880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8330184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Shape 3"/>
          <p:cNvSpPr/>
          <p:nvPr/>
        </p:nvSpPr>
        <p:spPr>
          <a:xfrm>
            <a:off x="8476488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8622792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7" name="Shape 5"/>
          <p:cNvSpPr/>
          <p:nvPr/>
        </p:nvSpPr>
        <p:spPr>
          <a:xfrm>
            <a:off x="8769096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8" name="Shape 6"/>
          <p:cNvSpPr/>
          <p:nvPr/>
        </p:nvSpPr>
        <p:spPr>
          <a:xfrm>
            <a:off x="8183880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9" name="Shape 7"/>
          <p:cNvSpPr/>
          <p:nvPr/>
        </p:nvSpPr>
        <p:spPr>
          <a:xfrm>
            <a:off x="8330184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Shape 8"/>
          <p:cNvSpPr/>
          <p:nvPr/>
        </p:nvSpPr>
        <p:spPr>
          <a:xfrm>
            <a:off x="8476488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8622792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Shape 10"/>
          <p:cNvSpPr/>
          <p:nvPr/>
        </p:nvSpPr>
        <p:spPr>
          <a:xfrm>
            <a:off x="8769096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3880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Shape 12"/>
          <p:cNvSpPr/>
          <p:nvPr/>
        </p:nvSpPr>
        <p:spPr>
          <a:xfrm>
            <a:off x="8330184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5" name="Shape 13"/>
          <p:cNvSpPr/>
          <p:nvPr/>
        </p:nvSpPr>
        <p:spPr>
          <a:xfrm>
            <a:off x="8476488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8622792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7" name="Shape 15"/>
          <p:cNvSpPr/>
          <p:nvPr/>
        </p:nvSpPr>
        <p:spPr>
          <a:xfrm>
            <a:off x="8769096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92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HARDVÉROVÁ PLATFORMA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5669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Nordic nRF9151 SiP a periférie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548640" y="1243584"/>
            <a:ext cx="50292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1600200"/>
            <a:ext cx="3931920" cy="2834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1600200"/>
            <a:ext cx="54864" cy="2834640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83080"/>
            <a:ext cx="640080" cy="64008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691640" y="17556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nRF9151 SiP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169164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System-in-Package od Nordic Semiconductor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14400" y="2697480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7" name="Text 24"/>
          <p:cNvSpPr/>
          <p:nvPr/>
        </p:nvSpPr>
        <p:spPr>
          <a:xfrm>
            <a:off x="1143000" y="260604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 Cortex-M33 @ 64 MHz, TrustZone-M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914400" y="3081528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9" name="Text 26"/>
          <p:cNvSpPr/>
          <p:nvPr/>
        </p:nvSpPr>
        <p:spPr>
          <a:xfrm>
            <a:off x="1143000" y="299008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MB Flash · 256 KB RAM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14400" y="3465576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1" name="Text 28"/>
          <p:cNvSpPr/>
          <p:nvPr/>
        </p:nvSpPr>
        <p:spPr>
          <a:xfrm>
            <a:off x="1143000" y="3374136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Integrovaný LTE-M / NB-IoT modem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14400" y="384962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3" name="Text 30"/>
          <p:cNvSpPr/>
          <p:nvPr/>
        </p:nvSpPr>
        <p:spPr>
          <a:xfrm>
            <a:off x="1143000" y="3758184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prijímač, SAADC, GPIO, I²C, SPI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4754880" y="16002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Periférie firmvéru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4754880" y="1993392"/>
            <a:ext cx="3931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112264"/>
            <a:ext cx="292608" cy="292608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5303520" y="20574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in1 až in4</a:t>
            </a:r>
            <a:endParaRPr lang="en-US" sz="1200" dirty="0"/>
          </a:p>
        </p:txBody>
      </p:sp>
      <p:sp>
        <p:nvSpPr>
          <p:cNvPr id="38" name="Text 34"/>
          <p:cNvSpPr/>
          <p:nvPr/>
        </p:nvSpPr>
        <p:spPr>
          <a:xfrm>
            <a:off x="6766560" y="205740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analógové vstupy (SAADC)</a:t>
            </a:r>
            <a:endParaRPr lang="en-US" sz="1050" dirty="0"/>
          </a:p>
        </p:txBody>
      </p:sp>
      <p:sp>
        <p:nvSpPr>
          <p:cNvPr id="39" name="Shape 35"/>
          <p:cNvSpPr/>
          <p:nvPr/>
        </p:nvSpPr>
        <p:spPr>
          <a:xfrm>
            <a:off x="4754880" y="2560320"/>
            <a:ext cx="3931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2679192"/>
            <a:ext cx="292608" cy="292608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5303520" y="26243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out1, out2</a:t>
            </a:r>
            <a:endParaRPr lang="en-US" sz="1200" dirty="0"/>
          </a:p>
        </p:txBody>
      </p:sp>
      <p:sp>
        <p:nvSpPr>
          <p:cNvPr id="42" name="Text 37"/>
          <p:cNvSpPr/>
          <p:nvPr/>
        </p:nvSpPr>
        <p:spPr>
          <a:xfrm>
            <a:off x="6766560" y="262432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GPIO reléové výstupy</a:t>
            </a:r>
            <a:endParaRPr lang="en-US" sz="1050" dirty="0"/>
          </a:p>
        </p:txBody>
      </p:sp>
      <p:sp>
        <p:nvSpPr>
          <p:cNvPr id="43" name="Shape 38"/>
          <p:cNvSpPr/>
          <p:nvPr/>
        </p:nvSpPr>
        <p:spPr>
          <a:xfrm>
            <a:off x="4754880" y="3127248"/>
            <a:ext cx="3931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246120"/>
            <a:ext cx="292608" cy="292608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5303520" y="319125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t1 až t10</a:t>
            </a:r>
            <a:endParaRPr lang="en-US" sz="1200" dirty="0"/>
          </a:p>
        </p:txBody>
      </p:sp>
      <p:sp>
        <p:nvSpPr>
          <p:cNvPr id="46" name="Text 40"/>
          <p:cNvSpPr/>
          <p:nvPr/>
        </p:nvSpPr>
        <p:spPr>
          <a:xfrm>
            <a:off x="6766560" y="3191256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1-Wire teplomery DS18B20</a:t>
            </a:r>
            <a:endParaRPr lang="en-US" sz="1050" dirty="0"/>
          </a:p>
        </p:txBody>
      </p:sp>
      <p:sp>
        <p:nvSpPr>
          <p:cNvPr id="47" name="Shape 41"/>
          <p:cNvSpPr/>
          <p:nvPr/>
        </p:nvSpPr>
        <p:spPr>
          <a:xfrm>
            <a:off x="4754880" y="3694176"/>
            <a:ext cx="3931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3813048"/>
            <a:ext cx="292608" cy="292608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5303520" y="37581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LTE-M</a:t>
            </a:r>
            <a:endParaRPr lang="en-US" sz="1200" dirty="0"/>
          </a:p>
        </p:txBody>
      </p:sp>
      <p:sp>
        <p:nvSpPr>
          <p:cNvPr id="50" name="Text 43"/>
          <p:cNvSpPr/>
          <p:nvPr/>
        </p:nvSpPr>
        <p:spPr>
          <a:xfrm>
            <a:off x="6766560" y="3758184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trvalé spojenie s brokerom</a:t>
            </a:r>
            <a:endParaRPr lang="en-US" sz="1050" dirty="0"/>
          </a:p>
        </p:txBody>
      </p:sp>
      <p:sp>
        <p:nvSpPr>
          <p:cNvPr id="51" name="Text 44"/>
          <p:cNvSpPr/>
          <p:nvPr/>
        </p:nvSpPr>
        <p:spPr>
          <a:xfrm>
            <a:off x="54864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GLIDER</a:t>
            </a:r>
            <a:endParaRPr lang="en-US" sz="1000" dirty="0"/>
          </a:p>
        </p:txBody>
      </p:sp>
      <p:sp>
        <p:nvSpPr>
          <p:cNvPr id="52" name="Text 45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13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8183880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8330184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Shape 3"/>
          <p:cNvSpPr/>
          <p:nvPr/>
        </p:nvSpPr>
        <p:spPr>
          <a:xfrm>
            <a:off x="8476488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8622792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7" name="Shape 5"/>
          <p:cNvSpPr/>
          <p:nvPr/>
        </p:nvSpPr>
        <p:spPr>
          <a:xfrm>
            <a:off x="8769096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8" name="Shape 6"/>
          <p:cNvSpPr/>
          <p:nvPr/>
        </p:nvSpPr>
        <p:spPr>
          <a:xfrm>
            <a:off x="8183880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9" name="Shape 7"/>
          <p:cNvSpPr/>
          <p:nvPr/>
        </p:nvSpPr>
        <p:spPr>
          <a:xfrm>
            <a:off x="8330184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Shape 8"/>
          <p:cNvSpPr/>
          <p:nvPr/>
        </p:nvSpPr>
        <p:spPr>
          <a:xfrm>
            <a:off x="8476488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8622792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Shape 10"/>
          <p:cNvSpPr/>
          <p:nvPr/>
        </p:nvSpPr>
        <p:spPr>
          <a:xfrm>
            <a:off x="8769096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3880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Shape 12"/>
          <p:cNvSpPr/>
          <p:nvPr/>
        </p:nvSpPr>
        <p:spPr>
          <a:xfrm>
            <a:off x="8330184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5" name="Shape 13"/>
          <p:cNvSpPr/>
          <p:nvPr/>
        </p:nvSpPr>
        <p:spPr>
          <a:xfrm>
            <a:off x="8476488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8622792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7" name="Shape 15"/>
          <p:cNvSpPr/>
          <p:nvPr/>
        </p:nvSpPr>
        <p:spPr>
          <a:xfrm>
            <a:off x="8769096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92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ARCHITEKTÚRA FIRMVÉRU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5669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Modulárny návrh nad Zephyr RTOS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548640" y="1243584"/>
            <a:ext cx="50292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16002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 vlákna + systémová workqueue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1965960"/>
            <a:ext cx="393192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1965960"/>
            <a:ext cx="54864" cy="65836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20391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 connection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77240" y="22951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LTE a MQTT lifecycle, auto-reconnect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2743200"/>
            <a:ext cx="393192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48640" y="2743200"/>
            <a:ext cx="54864" cy="65836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77240" y="30723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Vzorkovanie senzorov, prahy, automatizácia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3520440"/>
            <a:ext cx="393192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48640" y="3520440"/>
            <a:ext cx="54864" cy="65836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3593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Message queue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77240" y="3849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Bufferovanie telemetrie, offline režim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754880" y="16002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Aplikačné moduly v src/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754880" y="1993392"/>
            <a:ext cx="125272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02936" y="2176272"/>
            <a:ext cx="365760" cy="365760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4754880" y="2587752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lte.c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6099048" y="1993392"/>
            <a:ext cx="125272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7104" y="2176272"/>
            <a:ext cx="365760" cy="365760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6099048" y="2587752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mqtt_client.c</a:t>
            </a:r>
            <a:endParaRPr lang="en-US" sz="1100" dirty="0"/>
          </a:p>
        </p:txBody>
      </p:sp>
      <p:sp>
        <p:nvSpPr>
          <p:cNvPr id="41" name="Shape 37"/>
          <p:cNvSpPr/>
          <p:nvPr/>
        </p:nvSpPr>
        <p:spPr>
          <a:xfrm>
            <a:off x="7443216" y="1993392"/>
            <a:ext cx="125272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pic>
        <p:nvPicPr>
          <p:cNvPr id="4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176272"/>
            <a:ext cx="365760" cy="365760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7443216" y="2587752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jsonrpc.c</a:t>
            </a:r>
            <a:endParaRPr lang="en-US" sz="1100" dirty="0"/>
          </a:p>
        </p:txBody>
      </p:sp>
      <p:sp>
        <p:nvSpPr>
          <p:cNvPr id="44" name="Shape 39"/>
          <p:cNvSpPr/>
          <p:nvPr/>
        </p:nvSpPr>
        <p:spPr>
          <a:xfrm>
            <a:off x="4754880" y="3182112"/>
            <a:ext cx="125272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2936" y="3364992"/>
            <a:ext cx="365760" cy="365760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4754880" y="3776472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settings.c</a:t>
            </a:r>
            <a:endParaRPr lang="en-US" sz="1100" dirty="0"/>
          </a:p>
        </p:txBody>
      </p:sp>
      <p:sp>
        <p:nvSpPr>
          <p:cNvPr id="47" name="Shape 41"/>
          <p:cNvSpPr/>
          <p:nvPr/>
        </p:nvSpPr>
        <p:spPr>
          <a:xfrm>
            <a:off x="6099048" y="3182112"/>
            <a:ext cx="125272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3364992"/>
            <a:ext cx="365760" cy="365760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6099048" y="3776472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inputs.c</a:t>
            </a:r>
            <a:endParaRPr lang="en-US" sz="1100" dirty="0"/>
          </a:p>
        </p:txBody>
      </p:sp>
      <p:sp>
        <p:nvSpPr>
          <p:cNvPr id="50" name="Shape 43"/>
          <p:cNvSpPr/>
          <p:nvPr/>
        </p:nvSpPr>
        <p:spPr>
          <a:xfrm>
            <a:off x="7443216" y="3182112"/>
            <a:ext cx="125272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pic>
        <p:nvPicPr>
          <p:cNvPr id="5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1272" y="3364992"/>
            <a:ext cx="365760" cy="365760"/>
          </a:xfrm>
          <a:prstGeom prst="rect">
            <a:avLst/>
          </a:prstGeom>
        </p:spPr>
      </p:pic>
      <p:sp>
        <p:nvSpPr>
          <p:cNvPr id="52" name="Text 44"/>
          <p:cNvSpPr/>
          <p:nvPr/>
        </p:nvSpPr>
        <p:spPr>
          <a:xfrm>
            <a:off x="7443216" y="3776472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outputs.c</a:t>
            </a:r>
            <a:endParaRPr lang="en-US" sz="1100" dirty="0"/>
          </a:p>
        </p:txBody>
      </p:sp>
      <p:sp>
        <p:nvSpPr>
          <p:cNvPr id="53" name="Text 45"/>
          <p:cNvSpPr/>
          <p:nvPr/>
        </p:nvSpPr>
        <p:spPr>
          <a:xfrm>
            <a:off x="54864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GLIDER</a:t>
            </a:r>
            <a:endParaRPr lang="en-US" sz="1000" dirty="0"/>
          </a:p>
        </p:txBody>
      </p:sp>
      <p:sp>
        <p:nvSpPr>
          <p:cNvPr id="54" name="Text 46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8183880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8330184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Shape 3"/>
          <p:cNvSpPr/>
          <p:nvPr/>
        </p:nvSpPr>
        <p:spPr>
          <a:xfrm>
            <a:off x="8476488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8622792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7" name="Shape 5"/>
          <p:cNvSpPr/>
          <p:nvPr/>
        </p:nvSpPr>
        <p:spPr>
          <a:xfrm>
            <a:off x="8769096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8" name="Shape 6"/>
          <p:cNvSpPr/>
          <p:nvPr/>
        </p:nvSpPr>
        <p:spPr>
          <a:xfrm>
            <a:off x="8183880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9" name="Shape 7"/>
          <p:cNvSpPr/>
          <p:nvPr/>
        </p:nvSpPr>
        <p:spPr>
          <a:xfrm>
            <a:off x="8330184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Shape 8"/>
          <p:cNvSpPr/>
          <p:nvPr/>
        </p:nvSpPr>
        <p:spPr>
          <a:xfrm>
            <a:off x="8476488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8622792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Shape 10"/>
          <p:cNvSpPr/>
          <p:nvPr/>
        </p:nvSpPr>
        <p:spPr>
          <a:xfrm>
            <a:off x="8769096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3880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Shape 12"/>
          <p:cNvSpPr/>
          <p:nvPr/>
        </p:nvSpPr>
        <p:spPr>
          <a:xfrm>
            <a:off x="8330184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5" name="Shape 13"/>
          <p:cNvSpPr/>
          <p:nvPr/>
        </p:nvSpPr>
        <p:spPr>
          <a:xfrm>
            <a:off x="8476488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8622792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7" name="Shape 15"/>
          <p:cNvSpPr/>
          <p:nvPr/>
        </p:nvSpPr>
        <p:spPr>
          <a:xfrm>
            <a:off x="8769096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92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KOMUNIKAČNÝ STACK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5669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Od LTE-M k JSON-RPC 2.0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548640" y="1243584"/>
            <a:ext cx="50292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1691640"/>
            <a:ext cx="4937760" cy="502920"/>
          </a:xfrm>
          <a:prstGeom prst="rect">
            <a:avLst/>
          </a:prstGeom>
          <a:solidFill>
            <a:srgbClr val="0891B2"/>
          </a:solidFill>
          <a:ln/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1737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JSON-RPC 2.0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383280" y="1737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snake_case metódy: device_status, set_output, …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2286000"/>
            <a:ext cx="4937760" cy="502920"/>
          </a:xfrm>
          <a:prstGeom prst="rect">
            <a:avLst/>
          </a:prstGeom>
          <a:solidFill>
            <a:srgbClr val="06B6D4"/>
          </a:solidFill>
          <a:ln/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77240" y="2331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MQTT (net/mqtt.h)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83280" y="233172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keep-alive 30 s · LWT · clean_session=false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48640" y="2880360"/>
            <a:ext cx="4937760" cy="502920"/>
          </a:xfrm>
          <a:prstGeom prst="rect">
            <a:avLst/>
          </a:prstGeom>
          <a:solidFill>
            <a:srgbClr val="22D3EE"/>
          </a:solidFill>
          <a:ln/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7724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TCP / TLS-ready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383280" y="29260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port 1883 (TLS 8883 plánované)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48640" y="3474720"/>
            <a:ext cx="4937760" cy="502920"/>
          </a:xfrm>
          <a:prstGeom prst="rect">
            <a:avLst/>
          </a:prstGeom>
          <a:solidFill>
            <a:srgbClr val="67E8F9"/>
          </a:solidFill>
          <a:ln/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77240" y="35204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LTE-M (modem)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383280" y="35204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Manager · async pripojenie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715000" y="1691640"/>
            <a:ext cx="2971800" cy="2788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715000" y="1691640"/>
            <a:ext cx="54864" cy="27889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5" name="Text 33"/>
          <p:cNvSpPr/>
          <p:nvPr/>
        </p:nvSpPr>
        <p:spPr>
          <a:xfrm>
            <a:off x="5897880" y="17556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Príklad správy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897880" y="2057400"/>
            <a:ext cx="26517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"jsonrpc": "2.0",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"method": "device_report",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"params":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"in1_mv": 1234,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"battery_mv": 3850,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"rsrp_dbm": -94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864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GLIDER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13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8183880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8330184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Shape 3"/>
          <p:cNvSpPr/>
          <p:nvPr/>
        </p:nvSpPr>
        <p:spPr>
          <a:xfrm>
            <a:off x="8476488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8622792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7" name="Shape 5"/>
          <p:cNvSpPr/>
          <p:nvPr/>
        </p:nvSpPr>
        <p:spPr>
          <a:xfrm>
            <a:off x="8769096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8" name="Shape 6"/>
          <p:cNvSpPr/>
          <p:nvPr/>
        </p:nvSpPr>
        <p:spPr>
          <a:xfrm>
            <a:off x="8183880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9" name="Shape 7"/>
          <p:cNvSpPr/>
          <p:nvPr/>
        </p:nvSpPr>
        <p:spPr>
          <a:xfrm>
            <a:off x="8330184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Shape 8"/>
          <p:cNvSpPr/>
          <p:nvPr/>
        </p:nvSpPr>
        <p:spPr>
          <a:xfrm>
            <a:off x="8476488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8622792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Shape 10"/>
          <p:cNvSpPr/>
          <p:nvPr/>
        </p:nvSpPr>
        <p:spPr>
          <a:xfrm>
            <a:off x="8769096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3880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Shape 12"/>
          <p:cNvSpPr/>
          <p:nvPr/>
        </p:nvSpPr>
        <p:spPr>
          <a:xfrm>
            <a:off x="8330184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5" name="Shape 13"/>
          <p:cNvSpPr/>
          <p:nvPr/>
        </p:nvSpPr>
        <p:spPr>
          <a:xfrm>
            <a:off x="8476488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8622792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7" name="Shape 15"/>
          <p:cNvSpPr/>
          <p:nvPr/>
        </p:nvSpPr>
        <p:spPr>
          <a:xfrm>
            <a:off x="8769096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92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IMPLEMENTÁCIA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5669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Čo už firmvér dokáže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548640" y="1243584"/>
            <a:ext cx="50292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1600200"/>
            <a:ext cx="38862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1600200"/>
            <a:ext cx="54864" cy="292608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171907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Komunikácia s cloudom</a:t>
            </a:r>
            <a:endParaRPr lang="en-US" sz="14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94560"/>
            <a:ext cx="228600" cy="22860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114300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Pripojenie LTE-M cez Connection Manager</a:t>
            </a:r>
            <a:endParaRPr lang="en-US" sz="11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651760"/>
            <a:ext cx="228600" cy="22860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143000" y="2606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Synchronizácia času z modemu (UTC)</a:t>
            </a:r>
            <a:endParaRPr lang="en-US" sz="110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108960"/>
            <a:ext cx="228600" cy="22860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1143000" y="3063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klient s exponenciálnym back-off (1 s → 5 min)</a:t>
            </a:r>
            <a:endParaRPr lang="en-US" sz="110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566160"/>
            <a:ext cx="228600" cy="22860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143000" y="3520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device_status (retained) + LWT</a:t>
            </a:r>
            <a:endParaRPr lang="en-US" sz="11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023360"/>
            <a:ext cx="228600" cy="22860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143000" y="3977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JSON-RPC 2.0 builder/parser (cJSON)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4709160" y="1600200"/>
            <a:ext cx="38862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4709160" y="1600200"/>
            <a:ext cx="54864" cy="292608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6" name="Text 29"/>
          <p:cNvSpPr/>
          <p:nvPr/>
        </p:nvSpPr>
        <p:spPr>
          <a:xfrm>
            <a:off x="4937760" y="171907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Periférie a konfigurácia</a:t>
            </a:r>
            <a:endParaRPr lang="en-US" sz="1400" dirty="0"/>
          </a:p>
        </p:txBody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2194560"/>
            <a:ext cx="228600" cy="228600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530352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SAADC vstupy in1 až in4 (12-bit)</a:t>
            </a:r>
            <a:endParaRPr lang="en-US" sz="1100" dirty="0"/>
          </a:p>
        </p:txBody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3480" y="2651760"/>
            <a:ext cx="228600" cy="22860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5303520" y="2606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GPIO výstupy out1, out2 (set_output RPC)</a:t>
            </a:r>
            <a:endParaRPr lang="en-US" sz="1100" dirty="0"/>
          </a:p>
        </p:txBody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83480" y="3108960"/>
            <a:ext cx="228600" cy="228600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5303520" y="3063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Nastavenia z cloudu (update_settings) → NVS</a:t>
            </a:r>
            <a:endParaRPr lang="en-US" sz="1100" dirty="0"/>
          </a:p>
        </p:txBody>
      </p:sp>
      <p:pic>
        <p:nvPicPr>
          <p:cNvPr id="4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83480" y="3566160"/>
            <a:ext cx="228600" cy="228600"/>
          </a:xfrm>
          <a:prstGeom prst="rect">
            <a:avLst/>
          </a:prstGeom>
        </p:spPr>
      </p:pic>
      <p:sp>
        <p:nvSpPr>
          <p:cNvPr id="44" name="Text 33"/>
          <p:cNvSpPr/>
          <p:nvPr/>
        </p:nvSpPr>
        <p:spPr>
          <a:xfrm>
            <a:off x="5303520" y="3520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Periodický device_report s telemetriou</a:t>
            </a:r>
            <a:endParaRPr lang="en-US" sz="1100" dirty="0"/>
          </a:p>
        </p:txBody>
      </p:sp>
      <p:pic>
        <p:nvPicPr>
          <p:cNvPr id="4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83480" y="4023360"/>
            <a:ext cx="228600" cy="228600"/>
          </a:xfrm>
          <a:prstGeom prst="rect">
            <a:avLst/>
          </a:prstGeom>
        </p:spPr>
      </p:pic>
      <p:sp>
        <p:nvSpPr>
          <p:cNvPr id="46" name="Text 34"/>
          <p:cNvSpPr/>
          <p:nvPr/>
        </p:nvSpPr>
        <p:spPr>
          <a:xfrm>
            <a:off x="5303520" y="3977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Modem info: IMEI, RSRP, batéria, cell ID</a:t>
            </a:r>
            <a:endParaRPr lang="en-US" sz="1100" dirty="0"/>
          </a:p>
        </p:txBody>
      </p:sp>
      <p:sp>
        <p:nvSpPr>
          <p:cNvPr id="47" name="Text 35"/>
          <p:cNvSpPr/>
          <p:nvPr/>
        </p:nvSpPr>
        <p:spPr>
          <a:xfrm>
            <a:off x="54864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GLIDER</a:t>
            </a:r>
            <a:endParaRPr lang="en-US" sz="1000" dirty="0"/>
          </a:p>
        </p:txBody>
      </p:sp>
      <p:sp>
        <p:nvSpPr>
          <p:cNvPr id="48" name="Text 36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8183880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8330184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Shape 3"/>
          <p:cNvSpPr/>
          <p:nvPr/>
        </p:nvSpPr>
        <p:spPr>
          <a:xfrm>
            <a:off x="8476488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8622792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7" name="Shape 5"/>
          <p:cNvSpPr/>
          <p:nvPr/>
        </p:nvSpPr>
        <p:spPr>
          <a:xfrm>
            <a:off x="8769096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8" name="Shape 6"/>
          <p:cNvSpPr/>
          <p:nvPr/>
        </p:nvSpPr>
        <p:spPr>
          <a:xfrm>
            <a:off x="8183880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9" name="Shape 7"/>
          <p:cNvSpPr/>
          <p:nvPr/>
        </p:nvSpPr>
        <p:spPr>
          <a:xfrm>
            <a:off x="8330184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Shape 8"/>
          <p:cNvSpPr/>
          <p:nvPr/>
        </p:nvSpPr>
        <p:spPr>
          <a:xfrm>
            <a:off x="8476488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8622792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Shape 10"/>
          <p:cNvSpPr/>
          <p:nvPr/>
        </p:nvSpPr>
        <p:spPr>
          <a:xfrm>
            <a:off x="8769096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3880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Shape 12"/>
          <p:cNvSpPr/>
          <p:nvPr/>
        </p:nvSpPr>
        <p:spPr>
          <a:xfrm>
            <a:off x="8330184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5" name="Shape 13"/>
          <p:cNvSpPr/>
          <p:nvPr/>
        </p:nvSpPr>
        <p:spPr>
          <a:xfrm>
            <a:off x="8476488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8622792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7" name="Shape 15"/>
          <p:cNvSpPr/>
          <p:nvPr/>
        </p:nvSpPr>
        <p:spPr>
          <a:xfrm>
            <a:off x="8769096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92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BEZPEČNOSŤ · 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5669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Hrozby pre IoT firmvér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548640" y="1243584"/>
            <a:ext cx="50292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1600200"/>
            <a:ext cx="8046720" cy="502920"/>
          </a:xfrm>
          <a:prstGeom prst="rect">
            <a:avLst/>
          </a:prstGeom>
          <a:solidFill>
            <a:srgbClr val="0F2647"/>
          </a:solidFill>
          <a:ln w="6350">
            <a:solidFill>
              <a:srgbClr val="06B6D4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320040" cy="32004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097280" y="164592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Sicari, Rizzardi, Grieco, Coen-Porisini 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(2015), Security, privacy and trust in IoT: The road ahead. </a:t>
            </a:r>
            <a:pPr indent="0" marL="0">
              <a:buNone/>
            </a:pPr>
            <a:r>
              <a:rPr lang="en-US" sz="105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Networks, 76.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48640" y="2331720"/>
            <a:ext cx="3886200" cy="1078992"/>
          </a:xfrm>
          <a:prstGeom prst="rect">
            <a:avLst/>
          </a:prstGeom>
          <a:solidFill>
            <a:srgbClr val="0F2647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48640" y="2331720"/>
            <a:ext cx="54864" cy="1078992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532888"/>
            <a:ext cx="502920" cy="50292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41732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Krádež prihlasovacích údajov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1417320" y="28346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user/pass v plaintext na LTE rozhraní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4709160" y="2331720"/>
            <a:ext cx="3886200" cy="1078992"/>
          </a:xfrm>
          <a:prstGeom prst="rect">
            <a:avLst/>
          </a:prstGeom>
          <a:solidFill>
            <a:srgbClr val="0F2647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709160" y="2331720"/>
            <a:ext cx="54864" cy="1078992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2532888"/>
            <a:ext cx="502920" cy="502920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557784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Man-in-the-middle</a:t>
            </a:r>
            <a:endParaRPr lang="en-US" sz="1300" dirty="0"/>
          </a:p>
        </p:txBody>
      </p:sp>
      <p:sp>
        <p:nvSpPr>
          <p:cNvPr id="33" name="Text 28"/>
          <p:cNvSpPr/>
          <p:nvPr/>
        </p:nvSpPr>
        <p:spPr>
          <a:xfrm>
            <a:off x="5577840" y="28346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Podstrčený broker bez TLS = preposielanie príkazov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548640" y="3520440"/>
            <a:ext cx="3886200" cy="1078992"/>
          </a:xfrm>
          <a:prstGeom prst="rect">
            <a:avLst/>
          </a:prstGeom>
          <a:solidFill>
            <a:srgbClr val="0F2647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548640" y="3520440"/>
            <a:ext cx="54864" cy="1078992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721608"/>
            <a:ext cx="502920" cy="502920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1417320" y="3657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Spoofing zariadenia</a:t>
            </a:r>
            <a:endParaRPr lang="en-US" sz="1300" dirty="0"/>
          </a:p>
        </p:txBody>
      </p:sp>
      <p:sp>
        <p:nvSpPr>
          <p:cNvPr id="38" name="Text 32"/>
          <p:cNvSpPr/>
          <p:nvPr/>
        </p:nvSpPr>
        <p:spPr>
          <a:xfrm>
            <a:off x="1417320" y="40233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 X.509 certifikátu sa dá identita falšovať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4709160" y="3520440"/>
            <a:ext cx="3886200" cy="1078992"/>
          </a:xfrm>
          <a:prstGeom prst="rect">
            <a:avLst/>
          </a:prstGeom>
          <a:solidFill>
            <a:srgbClr val="0F2647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40" name="Shape 34"/>
          <p:cNvSpPr/>
          <p:nvPr/>
        </p:nvSpPr>
        <p:spPr>
          <a:xfrm>
            <a:off x="4709160" y="3520440"/>
            <a:ext cx="54864" cy="1078992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3721608"/>
            <a:ext cx="502920" cy="502920"/>
          </a:xfrm>
          <a:prstGeom prst="rect">
            <a:avLst/>
          </a:prstGeom>
        </p:spPr>
      </p:pic>
      <p:sp>
        <p:nvSpPr>
          <p:cNvPr id="42" name="Text 35"/>
          <p:cNvSpPr/>
          <p:nvPr/>
        </p:nvSpPr>
        <p:spPr>
          <a:xfrm>
            <a:off x="5577840" y="3657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Únik kľúčov z firmvéru</a:t>
            </a:r>
            <a:endParaRPr lang="en-US" sz="1300" dirty="0"/>
          </a:p>
        </p:txBody>
      </p:sp>
      <p:sp>
        <p:nvSpPr>
          <p:cNvPr id="43" name="Text 36"/>
          <p:cNvSpPr/>
          <p:nvPr/>
        </p:nvSpPr>
        <p:spPr>
          <a:xfrm>
            <a:off x="5577840" y="40233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Plaintext NVS, útočník s prístupom k flash ich prečíta</a:t>
            </a:r>
            <a:endParaRPr lang="en-US" sz="1050" dirty="0"/>
          </a:p>
        </p:txBody>
      </p:sp>
      <p:sp>
        <p:nvSpPr>
          <p:cNvPr id="44" name="Text 37"/>
          <p:cNvSpPr/>
          <p:nvPr/>
        </p:nvSpPr>
        <p:spPr>
          <a:xfrm>
            <a:off x="54864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GLIDER</a:t>
            </a:r>
            <a:endParaRPr lang="en-US" sz="1000" dirty="0"/>
          </a:p>
        </p:txBody>
      </p:sp>
      <p:sp>
        <p:nvSpPr>
          <p:cNvPr id="45" name="Text 38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13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8183880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8330184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Shape 3"/>
          <p:cNvSpPr/>
          <p:nvPr/>
        </p:nvSpPr>
        <p:spPr>
          <a:xfrm>
            <a:off x="8476488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8622792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7" name="Shape 5"/>
          <p:cNvSpPr/>
          <p:nvPr/>
        </p:nvSpPr>
        <p:spPr>
          <a:xfrm>
            <a:off x="8769096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8" name="Shape 6"/>
          <p:cNvSpPr/>
          <p:nvPr/>
        </p:nvSpPr>
        <p:spPr>
          <a:xfrm>
            <a:off x="8183880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9" name="Shape 7"/>
          <p:cNvSpPr/>
          <p:nvPr/>
        </p:nvSpPr>
        <p:spPr>
          <a:xfrm>
            <a:off x="8330184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Shape 8"/>
          <p:cNvSpPr/>
          <p:nvPr/>
        </p:nvSpPr>
        <p:spPr>
          <a:xfrm>
            <a:off x="8476488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8622792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Shape 10"/>
          <p:cNvSpPr/>
          <p:nvPr/>
        </p:nvSpPr>
        <p:spPr>
          <a:xfrm>
            <a:off x="8769096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3880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Shape 12"/>
          <p:cNvSpPr/>
          <p:nvPr/>
        </p:nvSpPr>
        <p:spPr>
          <a:xfrm>
            <a:off x="8330184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5" name="Shape 13"/>
          <p:cNvSpPr/>
          <p:nvPr/>
        </p:nvSpPr>
        <p:spPr>
          <a:xfrm>
            <a:off x="8476488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8622792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7" name="Shape 15"/>
          <p:cNvSpPr/>
          <p:nvPr/>
        </p:nvSpPr>
        <p:spPr>
          <a:xfrm>
            <a:off x="8769096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92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BEZPEČNOSŤ · 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5669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Slabiny MQTT a ako ich riešime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548640" y="1243584"/>
            <a:ext cx="50292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1600200"/>
            <a:ext cx="8046720" cy="502920"/>
          </a:xfrm>
          <a:prstGeom prst="rect">
            <a:avLst/>
          </a:prstGeom>
          <a:solidFill>
            <a:srgbClr val="0F2647"/>
          </a:solidFill>
          <a:ln w="6350">
            <a:solidFill>
              <a:srgbClr val="06B6D4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320040" cy="32004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097280" y="164592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Dinculeană &amp; Cheng 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(2019), Vulnerabilities and Limitations of MQTT Protocol Used between IoT Devices. </a:t>
            </a:r>
            <a:pPr indent="0" marL="0">
              <a:buNone/>
            </a:pPr>
            <a:r>
              <a:rPr lang="en-US" sz="105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Sciences, 9(5), 848.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48640" y="2331720"/>
            <a:ext cx="3886200" cy="2331720"/>
          </a:xfrm>
          <a:prstGeom prst="rect">
            <a:avLst/>
          </a:prstGeom>
          <a:solidFill>
            <a:srgbClr val="0F2647"/>
          </a:solidFill>
          <a:ln w="5080">
            <a:solidFill>
              <a:srgbClr val="06B6D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48640" y="2331720"/>
            <a:ext cx="3886200" cy="365760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6" name="Text 23"/>
          <p:cNvSpPr/>
          <p:nvPr/>
        </p:nvSpPr>
        <p:spPr>
          <a:xfrm>
            <a:off x="548640" y="233172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AKTUÁLNY STAV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709160" y="2331720"/>
            <a:ext cx="3886200" cy="2331720"/>
          </a:xfrm>
          <a:prstGeom prst="rect">
            <a:avLst/>
          </a:prstGeom>
          <a:solidFill>
            <a:srgbClr val="0F2647"/>
          </a:solidFill>
          <a:ln w="5080">
            <a:solidFill>
              <a:srgbClr val="06B6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709160" y="2331720"/>
            <a:ext cx="3886200" cy="3657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9" name="Text 26"/>
          <p:cNvSpPr/>
          <p:nvPr/>
        </p:nvSpPr>
        <p:spPr>
          <a:xfrm>
            <a:off x="4709160" y="233172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PLÁNOVANÉ ROZŠÍRENIE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13232" y="2898648"/>
            <a:ext cx="91440" cy="91440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31" name="Text 28"/>
          <p:cNvSpPr/>
          <p:nvPr/>
        </p:nvSpPr>
        <p:spPr>
          <a:xfrm>
            <a:off x="886968" y="27889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cez port 1883 (plaintext)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713232" y="3337560"/>
            <a:ext cx="91440" cy="91440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33" name="Text 30"/>
          <p:cNvSpPr/>
          <p:nvPr/>
        </p:nvSpPr>
        <p:spPr>
          <a:xfrm>
            <a:off x="886968" y="32278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Autentifikácia: username + password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713232" y="3776472"/>
            <a:ext cx="91440" cy="91440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35" name="Text 32"/>
          <p:cNvSpPr/>
          <p:nvPr/>
        </p:nvSpPr>
        <p:spPr>
          <a:xfrm>
            <a:off x="886968" y="3666744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Žiadne per-device ACL na brokeri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13232" y="4215384"/>
            <a:ext cx="91440" cy="91440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37" name="Text 34"/>
          <p:cNvSpPr/>
          <p:nvPr/>
        </p:nvSpPr>
        <p:spPr>
          <a:xfrm>
            <a:off x="886968" y="4105656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LWT bez kryptografického podpisu</a:t>
            </a:r>
            <a:endParaRPr lang="en-US" sz="1100" dirty="0"/>
          </a:p>
        </p:txBody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852928"/>
            <a:ext cx="201168" cy="201168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5093208" y="27889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MQTTS cez port 8883 (TLS 1.2)</a:t>
            </a:r>
            <a:endParaRPr lang="en-US" sz="1100" dirty="0"/>
          </a:p>
        </p:txBody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3291840"/>
            <a:ext cx="201168" cy="201168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5093208" y="32278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X.509 mutual authentication</a:t>
            </a:r>
            <a:endParaRPr lang="en-US" sz="1100" dirty="0"/>
          </a:p>
        </p:txBody>
      </p:sp>
      <p:pic>
        <p:nvPicPr>
          <p:cNvPr id="4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730752"/>
            <a:ext cx="201168" cy="201168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5093208" y="3666744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Per-device topic ACL na Mosquitto</a:t>
            </a:r>
            <a:endParaRPr lang="en-US" sz="1100" dirty="0"/>
          </a:p>
        </p:txBody>
      </p:sp>
      <p:pic>
        <p:nvPicPr>
          <p:cNvPr id="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4169664"/>
            <a:ext cx="201168" cy="201168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5093208" y="4105656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HMAC-SHA256 podpis pre nastavenia</a:t>
            </a:r>
            <a:endParaRPr lang="en-US" sz="1100" dirty="0"/>
          </a:p>
        </p:txBody>
      </p:sp>
      <p:sp>
        <p:nvSpPr>
          <p:cNvPr id="46" name="Text 39"/>
          <p:cNvSpPr/>
          <p:nvPr/>
        </p:nvSpPr>
        <p:spPr>
          <a:xfrm>
            <a:off x="54864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GLIDER</a:t>
            </a:r>
            <a:endParaRPr lang="en-US" sz="1000" dirty="0"/>
          </a:p>
        </p:txBody>
      </p:sp>
      <p:sp>
        <p:nvSpPr>
          <p:cNvPr id="47" name="Text 40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8183880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8330184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Shape 3"/>
          <p:cNvSpPr/>
          <p:nvPr/>
        </p:nvSpPr>
        <p:spPr>
          <a:xfrm>
            <a:off x="8476488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8622792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7" name="Shape 5"/>
          <p:cNvSpPr/>
          <p:nvPr/>
        </p:nvSpPr>
        <p:spPr>
          <a:xfrm>
            <a:off x="8769096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8" name="Shape 6"/>
          <p:cNvSpPr/>
          <p:nvPr/>
        </p:nvSpPr>
        <p:spPr>
          <a:xfrm>
            <a:off x="8183880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9" name="Shape 7"/>
          <p:cNvSpPr/>
          <p:nvPr/>
        </p:nvSpPr>
        <p:spPr>
          <a:xfrm>
            <a:off x="8330184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Shape 8"/>
          <p:cNvSpPr/>
          <p:nvPr/>
        </p:nvSpPr>
        <p:spPr>
          <a:xfrm>
            <a:off x="8476488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8622792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Shape 10"/>
          <p:cNvSpPr/>
          <p:nvPr/>
        </p:nvSpPr>
        <p:spPr>
          <a:xfrm>
            <a:off x="8769096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3880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Shape 12"/>
          <p:cNvSpPr/>
          <p:nvPr/>
        </p:nvSpPr>
        <p:spPr>
          <a:xfrm>
            <a:off x="8330184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5" name="Shape 13"/>
          <p:cNvSpPr/>
          <p:nvPr/>
        </p:nvSpPr>
        <p:spPr>
          <a:xfrm>
            <a:off x="8476488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8622792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7" name="Shape 15"/>
          <p:cNvSpPr/>
          <p:nvPr/>
        </p:nvSpPr>
        <p:spPr>
          <a:xfrm>
            <a:off x="8769096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92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BEZPEČNOSŤ ·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5669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Hardvérová izolácia: TF-M na Cortex-M33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548640" y="1243584"/>
            <a:ext cx="50292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1600200"/>
            <a:ext cx="8046720" cy="502920"/>
          </a:xfrm>
          <a:prstGeom prst="rect">
            <a:avLst/>
          </a:prstGeom>
          <a:solidFill>
            <a:srgbClr val="0F2647"/>
          </a:solidFill>
          <a:ln w="6350">
            <a:solidFill>
              <a:srgbClr val="06B6D4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320040" cy="32004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097280" y="164592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Pinto &amp; Santos 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(2019), Demystifying Arm TrustZone: A Comprehensive Survey. </a:t>
            </a:r>
            <a:pPr indent="0" marL="0">
              <a:buNone/>
            </a:pPr>
            <a:r>
              <a:rPr lang="en-US" sz="105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 Computing Surveys, 51(6), Article 130.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48640" y="2331720"/>
            <a:ext cx="3886200" cy="2331720"/>
          </a:xfrm>
          <a:prstGeom prst="rect">
            <a:avLst/>
          </a:prstGeom>
          <a:solidFill>
            <a:srgbClr val="0F2647"/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48640" y="233172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NON-SECURE WORLD</a:t>
            </a:r>
            <a:endParaRPr lang="en-US" sz="11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2788920"/>
            <a:ext cx="502920" cy="50292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48640" y="333756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Aplikácia GLIDER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548640" y="365760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MQTT klient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JSON-RPC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Settings · GPIO · ADC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4709160" y="2331720"/>
            <a:ext cx="3886200" cy="2331720"/>
          </a:xfrm>
          <a:prstGeom prst="rect">
            <a:avLst/>
          </a:prstGeom>
          <a:solidFill>
            <a:srgbClr val="082F49"/>
          </a:solidFill>
          <a:ln w="10160">
            <a:solidFill>
              <a:srgbClr val="22D3EE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709160" y="233172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SECURE WORLD (TF-M)</a:t>
            </a:r>
            <a:endParaRPr lang="en-US" sz="110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788920"/>
            <a:ext cx="502920" cy="502920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4709160" y="333756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Trusted Firmware-M</a:t>
            </a:r>
            <a:endParaRPr lang="en-US" sz="1300" dirty="0"/>
          </a:p>
        </p:txBody>
      </p:sp>
      <p:sp>
        <p:nvSpPr>
          <p:cNvPr id="33" name="Text 28"/>
          <p:cNvSpPr/>
          <p:nvPr/>
        </p:nvSpPr>
        <p:spPr>
          <a:xfrm>
            <a:off x="4709160" y="365760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PSA Crypto API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Secure boot, FOTA podpis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Bezpečné úložisko kľúčov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4434840" y="3429000"/>
            <a:ext cx="27432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5" name="Text 30"/>
          <p:cNvSpPr/>
          <p:nvPr/>
        </p:nvSpPr>
        <p:spPr>
          <a:xfrm>
            <a:off x="4114800" y="3511296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Veneer API</a:t>
            </a:r>
            <a:endParaRPr lang="en-US" sz="850" dirty="0"/>
          </a:p>
        </p:txBody>
      </p:sp>
      <p:sp>
        <p:nvSpPr>
          <p:cNvPr id="36" name="Text 31"/>
          <p:cNvSpPr/>
          <p:nvPr/>
        </p:nvSpPr>
        <p:spPr>
          <a:xfrm>
            <a:off x="54864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GLIDER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8183880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8330184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Shape 3"/>
          <p:cNvSpPr/>
          <p:nvPr/>
        </p:nvSpPr>
        <p:spPr>
          <a:xfrm>
            <a:off x="8476488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8622792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7" name="Shape 5"/>
          <p:cNvSpPr/>
          <p:nvPr/>
        </p:nvSpPr>
        <p:spPr>
          <a:xfrm>
            <a:off x="8769096" y="27432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8" name="Shape 6"/>
          <p:cNvSpPr/>
          <p:nvPr/>
        </p:nvSpPr>
        <p:spPr>
          <a:xfrm>
            <a:off x="8183880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9" name="Shape 7"/>
          <p:cNvSpPr/>
          <p:nvPr/>
        </p:nvSpPr>
        <p:spPr>
          <a:xfrm>
            <a:off x="8330184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Shape 8"/>
          <p:cNvSpPr/>
          <p:nvPr/>
        </p:nvSpPr>
        <p:spPr>
          <a:xfrm>
            <a:off x="8476488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8622792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Shape 10"/>
          <p:cNvSpPr/>
          <p:nvPr/>
        </p:nvSpPr>
        <p:spPr>
          <a:xfrm>
            <a:off x="8769096" y="4206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3880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Shape 12"/>
          <p:cNvSpPr/>
          <p:nvPr/>
        </p:nvSpPr>
        <p:spPr>
          <a:xfrm>
            <a:off x="8330184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5" name="Shape 13"/>
          <p:cNvSpPr/>
          <p:nvPr/>
        </p:nvSpPr>
        <p:spPr>
          <a:xfrm>
            <a:off x="8476488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8622792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7" name="Shape 15"/>
          <p:cNvSpPr/>
          <p:nvPr/>
        </p:nvSpPr>
        <p:spPr>
          <a:xfrm>
            <a:off x="8769096" y="566928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92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VÝSLEDKY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5669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Funkčný firmvér overený end-to-end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548640" y="1243584"/>
            <a:ext cx="50292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160020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1600200"/>
            <a:ext cx="54864" cy="1188720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1755648"/>
            <a:ext cx="457200" cy="45720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48640" y="22402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 konektivita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48640" y="2542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LTE-M · MQTT · JSON-RPC 2.0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291840" y="160020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291840" y="1600200"/>
            <a:ext cx="54864" cy="1188720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755648"/>
            <a:ext cx="457200" cy="45720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3291840" y="22402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Riadenie periférií</a:t>
            </a:r>
            <a:endParaRPr lang="en-US" sz="1400" dirty="0"/>
          </a:p>
        </p:txBody>
      </p:sp>
      <p:sp>
        <p:nvSpPr>
          <p:cNvPr id="30" name="Text 26"/>
          <p:cNvSpPr/>
          <p:nvPr/>
        </p:nvSpPr>
        <p:spPr>
          <a:xfrm>
            <a:off x="3291840" y="2542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Vstupy · výstupy · nastavenia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6035040" y="160020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6035040" y="1600200"/>
            <a:ext cx="54864" cy="1188720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755648"/>
            <a:ext cx="457200" cy="45720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035040" y="22402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Perzistencia a obnova</a:t>
            </a:r>
            <a:endParaRPr lang="en-US" sz="1400" dirty="0"/>
          </a:p>
        </p:txBody>
      </p:sp>
      <p:sp>
        <p:nvSpPr>
          <p:cNvPr id="35" name="Text 30"/>
          <p:cNvSpPr/>
          <p:nvPr/>
        </p:nvSpPr>
        <p:spPr>
          <a:xfrm>
            <a:off x="6035040" y="2542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NVS · auto-reconnect · LWT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548640" y="3017520"/>
            <a:ext cx="804672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B1F3A">
                <a:alpha val="8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548640" y="3017520"/>
            <a:ext cx="54864" cy="16002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8" name="Text 33"/>
          <p:cNvSpPr/>
          <p:nvPr/>
        </p:nvSpPr>
        <p:spPr>
          <a:xfrm>
            <a:off x="777240" y="31089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Overené v reálnom nasadení</a:t>
            </a:r>
            <a:endParaRPr lang="en-US" sz="1400" dirty="0"/>
          </a:p>
        </p:txBody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566160"/>
            <a:ext cx="201168" cy="201168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1033272" y="3520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UI prepne výstup → MQTT príkaz → GPIO sa nastaví do 200 ms</a:t>
            </a:r>
            <a:endParaRPr lang="en-US" sz="1050" dirty="0"/>
          </a:p>
        </p:txBody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3566160"/>
            <a:ext cx="201168" cy="201168"/>
          </a:xfrm>
          <a:prstGeom prst="rect">
            <a:avLst/>
          </a:prstGeom>
        </p:spPr>
      </p:pic>
      <p:sp>
        <p:nvSpPr>
          <p:cNvPr id="42" name="Text 35"/>
          <p:cNvSpPr/>
          <p:nvPr/>
        </p:nvSpPr>
        <p:spPr>
          <a:xfrm>
            <a:off x="4873752" y="3520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zmena nastavení sa zapíše do NVS a prežije reštart</a:t>
            </a:r>
            <a:endParaRPr lang="en-US" sz="1050" dirty="0"/>
          </a:p>
        </p:txBody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023360"/>
            <a:ext cx="201168" cy="201168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1033272" y="3977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Stratu LTE pripojenia firmvér zotaví auto-reconnect mechanizmom</a:t>
            </a:r>
            <a:endParaRPr lang="en-US" sz="1050" dirty="0"/>
          </a:p>
        </p:txBody>
      </p:sp>
      <p:pic>
        <p:nvPicPr>
          <p:cNvPr id="4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7720" y="4023360"/>
            <a:ext cx="201168" cy="201168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4873752" y="3977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Telemetria sa publikuje v správnom intervale podľa report_interval</a:t>
            </a:r>
            <a:endParaRPr lang="en-US" sz="1050" dirty="0"/>
          </a:p>
        </p:txBody>
      </p:sp>
      <p:sp>
        <p:nvSpPr>
          <p:cNvPr id="47" name="Text 38"/>
          <p:cNvSpPr/>
          <p:nvPr/>
        </p:nvSpPr>
        <p:spPr>
          <a:xfrm>
            <a:off x="54864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GLIDER</a:t>
            </a:r>
            <a:endParaRPr lang="en-US" sz="1000" dirty="0"/>
          </a:p>
        </p:txBody>
      </p:sp>
      <p:sp>
        <p:nvSpPr>
          <p:cNvPr id="48" name="Text 39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74320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603504" y="274320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274320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74320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7" name="Shape 5"/>
          <p:cNvSpPr/>
          <p:nvPr/>
        </p:nvSpPr>
        <p:spPr>
          <a:xfrm>
            <a:off x="1042416" y="274320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8" name="Shape 6"/>
          <p:cNvSpPr/>
          <p:nvPr/>
        </p:nvSpPr>
        <p:spPr>
          <a:xfrm>
            <a:off x="1188720" y="274320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9" name="Shape 7"/>
          <p:cNvSpPr/>
          <p:nvPr/>
        </p:nvSpPr>
        <p:spPr>
          <a:xfrm>
            <a:off x="1335024" y="274320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420624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603504" y="420624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Shape 10"/>
          <p:cNvSpPr/>
          <p:nvPr/>
        </p:nvSpPr>
        <p:spPr>
          <a:xfrm>
            <a:off x="749808" y="420624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3" name="Shape 11"/>
          <p:cNvSpPr/>
          <p:nvPr/>
        </p:nvSpPr>
        <p:spPr>
          <a:xfrm>
            <a:off x="896112" y="420624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Shape 12"/>
          <p:cNvSpPr/>
          <p:nvPr/>
        </p:nvSpPr>
        <p:spPr>
          <a:xfrm>
            <a:off x="1042416" y="420624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5" name="Shape 13"/>
          <p:cNvSpPr/>
          <p:nvPr/>
        </p:nvSpPr>
        <p:spPr>
          <a:xfrm>
            <a:off x="1188720" y="420624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1335024" y="420624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566928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8" name="Shape 16"/>
          <p:cNvSpPr/>
          <p:nvPr/>
        </p:nvSpPr>
        <p:spPr>
          <a:xfrm>
            <a:off x="603504" y="566928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9" name="Shape 17"/>
          <p:cNvSpPr/>
          <p:nvPr/>
        </p:nvSpPr>
        <p:spPr>
          <a:xfrm>
            <a:off x="749808" y="566928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0" name="Shape 18"/>
          <p:cNvSpPr/>
          <p:nvPr/>
        </p:nvSpPr>
        <p:spPr>
          <a:xfrm>
            <a:off x="896112" y="566928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1042416" y="566928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2" name="Shape 20"/>
          <p:cNvSpPr/>
          <p:nvPr/>
        </p:nvSpPr>
        <p:spPr>
          <a:xfrm>
            <a:off x="1188720" y="566928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3" name="Shape 21"/>
          <p:cNvSpPr/>
          <p:nvPr/>
        </p:nvSpPr>
        <p:spPr>
          <a:xfrm>
            <a:off x="1335024" y="566928"/>
            <a:ext cx="45720" cy="457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4" name="Shape 22"/>
          <p:cNvSpPr/>
          <p:nvPr/>
        </p:nvSpPr>
        <p:spPr>
          <a:xfrm>
            <a:off x="7863840" y="420624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5" name="Shape 23"/>
          <p:cNvSpPr/>
          <p:nvPr/>
        </p:nvSpPr>
        <p:spPr>
          <a:xfrm>
            <a:off x="8028432" y="420624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6" name="Shape 24"/>
          <p:cNvSpPr/>
          <p:nvPr/>
        </p:nvSpPr>
        <p:spPr>
          <a:xfrm>
            <a:off x="8193024" y="420624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7" name="Shape 25"/>
          <p:cNvSpPr/>
          <p:nvPr/>
        </p:nvSpPr>
        <p:spPr>
          <a:xfrm>
            <a:off x="8357616" y="420624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8" name="Shape 26"/>
          <p:cNvSpPr/>
          <p:nvPr/>
        </p:nvSpPr>
        <p:spPr>
          <a:xfrm>
            <a:off x="8522208" y="4206240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9" name="Shape 27"/>
          <p:cNvSpPr/>
          <p:nvPr/>
        </p:nvSpPr>
        <p:spPr>
          <a:xfrm>
            <a:off x="7863840" y="4370832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0" name="Shape 28"/>
          <p:cNvSpPr/>
          <p:nvPr/>
        </p:nvSpPr>
        <p:spPr>
          <a:xfrm>
            <a:off x="8028432" y="4370832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1" name="Shape 29"/>
          <p:cNvSpPr/>
          <p:nvPr/>
        </p:nvSpPr>
        <p:spPr>
          <a:xfrm>
            <a:off x="8193024" y="4370832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7616" y="4370832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3" name="Shape 31"/>
          <p:cNvSpPr/>
          <p:nvPr/>
        </p:nvSpPr>
        <p:spPr>
          <a:xfrm>
            <a:off x="8522208" y="4370832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4" name="Shape 32"/>
          <p:cNvSpPr/>
          <p:nvPr/>
        </p:nvSpPr>
        <p:spPr>
          <a:xfrm>
            <a:off x="7863840" y="45354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5" name="Shape 33"/>
          <p:cNvSpPr/>
          <p:nvPr/>
        </p:nvSpPr>
        <p:spPr>
          <a:xfrm>
            <a:off x="8028432" y="45354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6" name="Shape 34"/>
          <p:cNvSpPr/>
          <p:nvPr/>
        </p:nvSpPr>
        <p:spPr>
          <a:xfrm>
            <a:off x="8193024" y="45354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7" name="Shape 35"/>
          <p:cNvSpPr/>
          <p:nvPr/>
        </p:nvSpPr>
        <p:spPr>
          <a:xfrm>
            <a:off x="8357616" y="45354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8" name="Shape 36"/>
          <p:cNvSpPr/>
          <p:nvPr/>
        </p:nvSpPr>
        <p:spPr>
          <a:xfrm>
            <a:off x="8522208" y="4535424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9" name="Shape 37"/>
          <p:cNvSpPr/>
          <p:nvPr/>
        </p:nvSpPr>
        <p:spPr>
          <a:xfrm>
            <a:off x="7863840" y="4700016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0" name="Shape 38"/>
          <p:cNvSpPr/>
          <p:nvPr/>
        </p:nvSpPr>
        <p:spPr>
          <a:xfrm>
            <a:off x="8028432" y="4700016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1" name="Shape 39"/>
          <p:cNvSpPr/>
          <p:nvPr/>
        </p:nvSpPr>
        <p:spPr>
          <a:xfrm>
            <a:off x="8193024" y="4700016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2" name="Shape 40"/>
          <p:cNvSpPr/>
          <p:nvPr/>
        </p:nvSpPr>
        <p:spPr>
          <a:xfrm>
            <a:off x="8357616" y="4700016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3" name="Shape 41"/>
          <p:cNvSpPr/>
          <p:nvPr/>
        </p:nvSpPr>
        <p:spPr>
          <a:xfrm>
            <a:off x="8522208" y="4700016"/>
            <a:ext cx="54864" cy="54864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44" name="Text 42"/>
          <p:cNvSpPr/>
          <p:nvPr/>
        </p:nvSpPr>
        <p:spPr>
          <a:xfrm>
            <a:off x="54864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ZÁVER A BUDÚCA PRÁCA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48640" y="9601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Firmvér GLIDER je funkčný, a pripravený na zabezpečenie</a:t>
            </a:r>
            <a:endParaRPr lang="en-US" sz="2600" dirty="0"/>
          </a:p>
        </p:txBody>
      </p:sp>
      <p:sp>
        <p:nvSpPr>
          <p:cNvPr id="46" name="Shape 44"/>
          <p:cNvSpPr/>
          <p:nvPr/>
        </p:nvSpPr>
        <p:spPr>
          <a:xfrm>
            <a:off x="548640" y="1783080"/>
            <a:ext cx="50292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7" name="Shape 45"/>
          <p:cNvSpPr/>
          <p:nvPr/>
        </p:nvSpPr>
        <p:spPr>
          <a:xfrm>
            <a:off x="548640" y="2103120"/>
            <a:ext cx="2560320" cy="2331720"/>
          </a:xfrm>
          <a:prstGeom prst="rect">
            <a:avLst/>
          </a:prstGeom>
          <a:solidFill>
            <a:srgbClr val="0F2647"/>
          </a:solidFill>
          <a:ln w="5080">
            <a:solidFill>
              <a:srgbClr val="06B6D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48640" y="2103120"/>
            <a:ext cx="2560320" cy="3657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9" name="Text 47"/>
          <p:cNvSpPr/>
          <p:nvPr/>
        </p:nvSpPr>
        <p:spPr>
          <a:xfrm>
            <a:off x="548640" y="2103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HOTOVO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13232" y="2715768"/>
            <a:ext cx="73152" cy="7315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1" name="Text 49"/>
          <p:cNvSpPr/>
          <p:nvPr/>
        </p:nvSpPr>
        <p:spPr>
          <a:xfrm>
            <a:off x="850392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LTE + MQTT komunikácia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713232" y="3127248"/>
            <a:ext cx="73152" cy="7315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3" name="Text 51"/>
          <p:cNvSpPr/>
          <p:nvPr/>
        </p:nvSpPr>
        <p:spPr>
          <a:xfrm>
            <a:off x="850392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JSON-RPC 2.0 protokol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713232" y="3538728"/>
            <a:ext cx="73152" cy="7315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5" name="Text 53"/>
          <p:cNvSpPr/>
          <p:nvPr/>
        </p:nvSpPr>
        <p:spPr>
          <a:xfrm>
            <a:off x="850392" y="3429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Nastavenia v NVS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713232" y="3950208"/>
            <a:ext cx="73152" cy="7315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7" name="Text 55"/>
          <p:cNvSpPr/>
          <p:nvPr/>
        </p:nvSpPr>
        <p:spPr>
          <a:xfrm>
            <a:off x="850392" y="3840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Riadenie výstupov z cloudu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3291840" y="2103120"/>
            <a:ext cx="2560320" cy="2331720"/>
          </a:xfrm>
          <a:prstGeom prst="rect">
            <a:avLst/>
          </a:prstGeom>
          <a:solidFill>
            <a:srgbClr val="0F2647"/>
          </a:solidFill>
          <a:ln w="5080">
            <a:solidFill>
              <a:srgbClr val="06B6D4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291840" y="2103120"/>
            <a:ext cx="2560320" cy="36576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0" name="Text 58"/>
          <p:cNvSpPr/>
          <p:nvPr/>
        </p:nvSpPr>
        <p:spPr>
          <a:xfrm>
            <a:off x="3291840" y="2103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PREBIEHA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3456432" y="2715768"/>
            <a:ext cx="73152" cy="7315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62" name="Text 60"/>
          <p:cNvSpPr/>
          <p:nvPr/>
        </p:nvSpPr>
        <p:spPr>
          <a:xfrm>
            <a:off x="3593592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Prahové alerting vstupov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3456432" y="3127248"/>
            <a:ext cx="73152" cy="7315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64" name="Text 62"/>
          <p:cNvSpPr/>
          <p:nvPr/>
        </p:nvSpPr>
        <p:spPr>
          <a:xfrm>
            <a:off x="3593592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1-Wire teplotné kanály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3456432" y="3538728"/>
            <a:ext cx="73152" cy="7315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66" name="Text 64"/>
          <p:cNvSpPr/>
          <p:nvPr/>
        </p:nvSpPr>
        <p:spPr>
          <a:xfrm>
            <a:off x="3593592" y="3429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Pravidlá automation/calendar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3456432" y="3950208"/>
            <a:ext cx="73152" cy="7315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68" name="Text 66"/>
          <p:cNvSpPr/>
          <p:nvPr/>
        </p:nvSpPr>
        <p:spPr>
          <a:xfrm>
            <a:off x="3593592" y="3840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queue správ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6035040" y="2103120"/>
            <a:ext cx="2560320" cy="2331720"/>
          </a:xfrm>
          <a:prstGeom prst="rect">
            <a:avLst/>
          </a:prstGeom>
          <a:solidFill>
            <a:srgbClr val="0F2647"/>
          </a:solidFill>
          <a:ln w="5080">
            <a:solidFill>
              <a:srgbClr val="06B6D4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035040" y="2103120"/>
            <a:ext cx="2560320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1" name="Text 69"/>
          <p:cNvSpPr/>
          <p:nvPr/>
        </p:nvSpPr>
        <p:spPr>
          <a:xfrm>
            <a:off x="6035040" y="2103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BUDÚCNOSŤ (BEZPEČNOSŤ)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6199632" y="2715768"/>
            <a:ext cx="73152" cy="7315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73" name="Text 71"/>
          <p:cNvSpPr/>
          <p:nvPr/>
        </p:nvSpPr>
        <p:spPr>
          <a:xfrm>
            <a:off x="6336792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MQTTS + X.509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6199632" y="3127248"/>
            <a:ext cx="73152" cy="7315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75" name="Text 73"/>
          <p:cNvSpPr/>
          <p:nvPr/>
        </p:nvSpPr>
        <p:spPr>
          <a:xfrm>
            <a:off x="6336792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Podpísané FOTA cez TF-M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6199632" y="3538728"/>
            <a:ext cx="73152" cy="7315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77" name="Text 75"/>
          <p:cNvSpPr/>
          <p:nvPr/>
        </p:nvSpPr>
        <p:spPr>
          <a:xfrm>
            <a:off x="6336792" y="3429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Per-device ACL na brokeri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6199632" y="3950208"/>
            <a:ext cx="73152" cy="7315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79" name="Text 77"/>
          <p:cNvSpPr/>
          <p:nvPr/>
        </p:nvSpPr>
        <p:spPr>
          <a:xfrm>
            <a:off x="6336792" y="3840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 attestation tokeny</a:t>
            </a:r>
            <a:endParaRPr lang="en-US" sz="1050" dirty="0"/>
          </a:p>
        </p:txBody>
      </p:sp>
      <p:sp>
        <p:nvSpPr>
          <p:cNvPr id="80" name="Text 78"/>
          <p:cNvSpPr/>
          <p:nvPr/>
        </p:nvSpPr>
        <p:spPr>
          <a:xfrm>
            <a:off x="548640" y="46177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Ďakujem za pozornosť · Otázky?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Firmvér Hardwario GLIDER</dc:title>
  <dc:subject>PptxGenJS Presentation</dc:subject>
  <dc:creator>Diplomová práca</dc:creator>
  <cp:lastModifiedBy>Diplomová práca</cp:lastModifiedBy>
  <cp:revision>1</cp:revision>
  <dcterms:created xsi:type="dcterms:W3CDTF">2026-05-12T10:08:16Z</dcterms:created>
  <dcterms:modified xsi:type="dcterms:W3CDTF">2026-05-12T10:08:16Z</dcterms:modified>
</cp:coreProperties>
</file>